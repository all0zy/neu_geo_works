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615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D7A04B"/>
          </a:solidFill>
          <a:ln w="12700">
            <a:solidFill>
              <a:srgbClr val="D7A0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298448"/>
            <a:ext cx="6400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</a:rPr>
              <a:t>基于 HarmonyOS 的实时动态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</a:rPr>
              <a:t>GNSS 增强导航 APP 设计与实现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76656" y="2770632"/>
            <a:ext cx="3840480" cy="73152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999232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Real-time GNSS Monitoring · AMap WebView · ArkTS Native 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" y="534924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11827"/>
                </a:solidFill>
              </a:rPr>
              <a:t>答辩人：闻子博</a:t>
            </a:r>
            <a:r>
              <a:rPr lang="en-US" sz="1300" dirty="0">
                <a:solidFill>
                  <a:srgbClr val="111827"/>
                </a:solidFill>
              </a:rPr>
              <a:t> 20232444  |  </a:t>
            </a:r>
            <a:r>
              <a:rPr lang="en-US" sz="1300" dirty="0" err="1">
                <a:solidFill>
                  <a:srgbClr val="111827"/>
                </a:solidFill>
              </a:rPr>
              <a:t>开发环境：DevEco</a:t>
            </a:r>
            <a:r>
              <a:rPr lang="en-US" sz="1300" dirty="0">
                <a:solidFill>
                  <a:srgbClr val="111827"/>
                </a:solidFill>
              </a:rPr>
              <a:t> Studio / HarmonyOS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" y="5806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3B61"/>
                </a:solidFill>
              </a:rPr>
              <a:t>自强不息，知行合一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69480" y="557784"/>
            <a:ext cx="2121408" cy="44805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0" descr="/mnt/data/ppt_assets/home_realti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2273"/>
            <a:ext cx="2029968" cy="437158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0" y="504748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实时首页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390888" y="795528"/>
            <a:ext cx="2029968" cy="425196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5" name="Image 1" descr="/mnt/data/ppt_assets/precis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9892" y="841248"/>
            <a:ext cx="1931960" cy="4160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436608" y="505663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精度评估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995160" y="5532120"/>
            <a:ext cx="4526280" cy="566928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50608" y="569671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面向导航定位课程任务的完整 APP 原型：地图、定位、导航、GNSS 七项增强、实时动态监测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7132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</a:rPr>
              <a:t>目 录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49808" y="1481328"/>
            <a:ext cx="1042416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184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171E"/>
                </a:solidFill>
              </a:rPr>
              <a:t>01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865376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项目背景与目标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1627632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课程任务、开发意义与目标拆解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" y="2340864"/>
            <a:ext cx="104241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4780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171E"/>
                </a:solidFill>
              </a:rPr>
              <a:t>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65376" y="24597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系统架构与技术路线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09160" y="2487168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HarmonyOS 原生层、WebView 地图层与 JS 桥接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3200400"/>
            <a:ext cx="1042416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337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171E"/>
                </a:solidFill>
              </a:rPr>
              <a:t>03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865376" y="3319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核心功能设计与演示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09160" y="3346704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地图、导航、实时定位、GNSS 七项增强功能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9808" y="4059936"/>
            <a:ext cx="104241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1970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171E"/>
                </a:solidFill>
              </a:rPr>
              <a:t>04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865376" y="4178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测试结果与问题优化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709160" y="4206240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真机运行、权限、坐标系与交互体验优化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9808" y="4919472"/>
            <a:ext cx="1042416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0566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171E"/>
                </a:solidFill>
              </a:rPr>
              <a:t>05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865376" y="50383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项目特色与总结展望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709160" y="5065776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实时动态监测、组合导航与后续扩展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171E"/>
                </a:solidFill>
              </a:rPr>
              <a:t>第01章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871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</a:rPr>
              <a:t>项目背景与目标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32688" y="307238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BACKGROUND AND OBJECTIVES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006840" y="19202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C9171E">
                    <a:alpha val="92000"/>
                  </a:srgbClr>
                </a:solidFill>
              </a:rPr>
              <a:t>01</a:t>
            </a:r>
            <a:endParaRPr lang="en-US" sz="740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4389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B61"/>
                </a:solidFill>
              </a:rPr>
              <a:t>自强不息，知行合一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35440" y="6263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NEU · 汇报章节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开发背景：从“可定位”到“可评估、可增强、可预警”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课程任务要求基于现有导航定位 APP，继续扩展至少两项 GNSS 增强能力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123444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1234440"/>
            <a:ext cx="73152" cy="187452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138074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问题 1：单次定位难以表达精度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9536" y="1709928"/>
            <a:ext cx="298094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普通导航 APP 只给出一个位置点，无法量化短时抖动、RMS、CEP95、散布范围等精度指标。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43984" y="123444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43984" y="1234440"/>
            <a:ext cx="73152" cy="1874520"/>
          </a:xfrm>
          <a:prstGeom prst="rect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38074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问题 2：GNSS 质量信息不可视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45152" y="1709928"/>
            <a:ext cx="298094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卫星数、信噪比、DOP 等质量参数与用户体验之间缺乏直接展示，需要面向课程实验设计可视化入口。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0" y="123444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1234440"/>
            <a:ext cx="73152" cy="1874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0768" y="138074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问题 3：异常与欺骗风险难察觉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30768" y="1709928"/>
            <a:ext cx="298094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位置突跳、速度异常、航向突变等风险因素无法由普通 UI 自动检测，需加入实时诊断模块。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3886200"/>
            <a:ext cx="10149840" cy="1417320"/>
          </a:xfrm>
          <a:prstGeom prst="roundRect">
            <a:avLst>
              <a:gd name="adj" fmla="val 645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5296" y="40965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171E"/>
                </a:solidFill>
              </a:rPr>
              <a:t>本项目定位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70048" y="4069080"/>
            <a:ext cx="7909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面向 HarmonyOS 平台开发一套“地图导航 + 实时动态 GNSS 增强”的 APP 原型，实现位置获取、地图展示、路径规划、坐标转换、精度评估、质量评估、误差分析、组合导航、欺骗检测与 CORS/PPP 模拟改正。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194560" y="4873752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67712" y="492861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0FF"/>
                </a:solidFill>
              </a:rPr>
              <a:t>HarmonyOS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11880" y="487375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5032" y="4928616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0FF"/>
                </a:solidFill>
              </a:rPr>
              <a:t>高德地图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83480" y="487375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56632" y="4928616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0FF"/>
                </a:solidFill>
              </a:rPr>
              <a:t>实时定位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487375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4928616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0FF"/>
                </a:solidFill>
              </a:rPr>
              <a:t>GNSS 七项增强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83880" y="487375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57032" y="4928616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0FF"/>
                </a:solidFill>
              </a:rPr>
              <a:t>真机验证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开发目标：完整功能闭环 + 可演示的实时动态能力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从需求分析到真机运行，强调工程实现、功能可用和汇报展示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1325880"/>
            <a:ext cx="411480" cy="411480"/>
          </a:xfrm>
          <a:prstGeom prst="ellipse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399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81328" y="13167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地图基础能力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13441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高德地图加载、定位点显示、卫星图切换、搜索与路线规划。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228600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591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22768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导航辅助能力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23042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拍照定位、电子围栏、轨迹绘制与融合点显示。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3246120"/>
            <a:ext cx="411480" cy="411480"/>
          </a:xfrm>
          <a:prstGeom prst="ellipse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3192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81328" y="32369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GNSS 增强能力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49040" y="32644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坐标转换、精度评估、质量评估、误差源分析、组合导航、欺骗检测、CORS/PPP。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420624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2793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81328" y="41970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实时动态能力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49040" y="42245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开启实时模式后自动采样、自动刷新指标和轨迹，降低手动操作成本。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686800" y="1051560"/>
            <a:ext cx="2194560" cy="4617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8" name="Image 0" descr="/mnt/data/ppt_assets/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179" y="1097280"/>
            <a:ext cx="2101803" cy="45262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732520" y="56784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GNSS 功能总览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68680" y="5532120"/>
            <a:ext cx="740664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97280" y="5669280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B61"/>
                </a:solidFill>
              </a:rPr>
              <a:t>最终交付：可运行的 HarmonyOS APP + 约 60 页开发文档 + 40 页以上软件说明书 + 本次汇报 PPT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171E"/>
                </a:solidFill>
              </a:rPr>
              <a:t>第02章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871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</a:rPr>
              <a:t>系统架构与技术路线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32688" y="307238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ARCHITECTURE AND TECHNICAL ROUTE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006840" y="19202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C9171E">
                    <a:alpha val="92000"/>
                  </a:srgbClr>
                </a:solidFill>
              </a:rPr>
              <a:t>02</a:t>
            </a:r>
            <a:endParaRPr lang="en-US" sz="740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4389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B61"/>
                </a:solidFill>
              </a:rPr>
              <a:t>自强不息，知行合一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35440" y="6263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NEU · 汇报章节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总体架构：ArkTS 原生层 + WebView 地图层 + 高德服务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以 Index.ets 作为原生控制中心，以 amap.html 作为地图与 GNSS 可视化计算层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44368" y="2331720"/>
            <a:ext cx="713232" cy="576072"/>
          </a:xfrm>
          <a:prstGeom prst="line">
            <a:avLst/>
          </a:prstGeom>
          <a:noFill/>
          <a:ln w="25400">
            <a:solidFill>
              <a:srgbClr val="123B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44368" y="3822192"/>
            <a:ext cx="713232" cy="0"/>
          </a:xfrm>
          <a:prstGeom prst="line">
            <a:avLst/>
          </a:prstGeom>
          <a:noFill/>
          <a:ln w="25400">
            <a:solidFill>
              <a:srgbClr val="123B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70448" y="2907792"/>
            <a:ext cx="640080" cy="0"/>
          </a:xfrm>
          <a:prstGeom prst="line">
            <a:avLst/>
          </a:prstGeom>
          <a:noFill/>
          <a:ln w="25400">
            <a:solidFill>
              <a:srgbClr val="123B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70448" y="3090672"/>
            <a:ext cx="640080" cy="731520"/>
          </a:xfrm>
          <a:prstGeom prst="line">
            <a:avLst/>
          </a:prstGeom>
          <a:noFill/>
          <a:ln w="25400">
            <a:solidFill>
              <a:srgbClr val="123B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796528" y="3822192"/>
            <a:ext cx="466344" cy="0"/>
          </a:xfrm>
          <a:prstGeom prst="line">
            <a:avLst/>
          </a:prstGeom>
          <a:noFill/>
          <a:ln w="25400">
            <a:solidFill>
              <a:srgbClr val="123B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8680" y="1901952"/>
            <a:ext cx="2057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C9171E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6696" y="2066544"/>
            <a:ext cx="180136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HarmonyOS UI 层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Index.ets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1901952"/>
            <a:ext cx="2057400" cy="73152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392424"/>
            <a:ext cx="2057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6696" y="3557016"/>
            <a:ext cx="180136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系统能力层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LocationKit / CameraKit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3392424"/>
            <a:ext cx="20574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2606040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123B61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31336" y="2770632"/>
            <a:ext cx="189280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WebView 桥接层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runJavaScript()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703320" y="2606040"/>
            <a:ext cx="2148840" cy="73152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1901952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1E80FF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11696" y="2066544"/>
            <a:ext cx="189280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地图与 GNSS 层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amap.html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83680" y="1901952"/>
            <a:ext cx="2148840" cy="73152"/>
          </a:xfrm>
          <a:prstGeom prst="rect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3392424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11696" y="3557016"/>
            <a:ext cx="189280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高德 Web API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地图 / 搜索 / 路线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83680" y="3392424"/>
            <a:ext cx="21488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6880" y="2606040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54896" y="2770632"/>
            <a:ext cx="189280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配置资源层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</a:rPr>
              <a:t>module.json5 / string.json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326880" y="2606040"/>
            <a:ext cx="21488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5285232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504688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23B61"/>
                </a:solidFill>
              </a:rPr>
              <a:t>核心思想：原生层负责权限、定位、拍照与 UI 控制；网页层负责地图服务、空间对象绘制与 GNSS 结果面板渲染；二者通过 JS 桥接实现低耦合协作。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关键文件分工：配置、界面、地图与资源职责清晰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开发文档与软件说明书中对四类核心文件进行了结构化说明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3232" y="1225296"/>
            <a:ext cx="1078992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463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171E"/>
                </a:solidFill>
              </a:rPr>
              <a:t>index.ets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78608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原生 UI 与控制逻辑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83480" y="1335024"/>
            <a:ext cx="5989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B7280"/>
                </a:solidFill>
              </a:rPr>
              <a:t>登录、底部抽屉、按钮事件、定位/拍照权限、实时模式轮询、JS 桥接调用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13232" y="2276856"/>
            <a:ext cx="10789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5146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171E"/>
                </a:solidFill>
              </a:rPr>
              <a:t>amap.html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78608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地图与 GNSS 工具页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983480" y="2386584"/>
            <a:ext cx="5989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B7280"/>
                </a:solidFill>
              </a:rPr>
              <a:t>高德地图加载、轨迹/围栏/路径、坐标转换、精度/质量/误差/组合导航等面板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713232" y="3328416"/>
            <a:ext cx="1078992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566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171E"/>
                </a:solidFill>
              </a:rPr>
              <a:t>module.json5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78608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模块配置与权限声明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983480" y="3438144"/>
            <a:ext cx="5989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B7280"/>
                </a:solidFill>
              </a:rPr>
              <a:t>申请 LOCATION、APPROXIMATELY_LOCATION、CAMERA、INTERNET 等能力与 usedScene 配置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713232" y="4379976"/>
            <a:ext cx="10789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6177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171E"/>
                </a:solidFill>
              </a:rPr>
              <a:t>string.json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578608" y="4526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多语言资源与权限说明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983480" y="4489704"/>
            <a:ext cx="5989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B7280"/>
                </a:solidFill>
              </a:rPr>
              <a:t>定义应用名称、权限申请原因、模块描述等可维护文本资源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868680" y="568756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3B61"/>
                </a:solidFill>
              </a:rPr>
              <a:t>文件结构保持“原生控制—网页地图—权限配置—资源文本”的分层，便于调试、复用和文档化说明。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实时动态模式：自动定位、自动入库、自动刷新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将手动点击式实验升级为连续采样式 GNSS 监测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12848" y="2816352"/>
            <a:ext cx="457200" cy="0"/>
          </a:xfrm>
          <a:prstGeom prst="line">
            <a:avLst/>
          </a:prstGeom>
          <a:noFill/>
          <a:ln w="25400">
            <a:solidFill>
              <a:srgbClr val="C9171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53128" y="2816352"/>
            <a:ext cx="457200" cy="0"/>
          </a:xfrm>
          <a:prstGeom prst="line">
            <a:avLst/>
          </a:prstGeom>
          <a:noFill/>
          <a:ln w="25400">
            <a:solidFill>
              <a:srgbClr val="C9171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93408" y="2816352"/>
            <a:ext cx="457200" cy="0"/>
          </a:xfrm>
          <a:prstGeom prst="line">
            <a:avLst/>
          </a:prstGeom>
          <a:noFill/>
          <a:ln w="25400">
            <a:solidFill>
              <a:srgbClr val="C9171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33688" y="2816352"/>
            <a:ext cx="457200" cy="0"/>
          </a:xfrm>
          <a:prstGeom prst="line">
            <a:avLst/>
          </a:prstGeom>
          <a:noFill/>
          <a:ln w="25400">
            <a:solidFill>
              <a:srgbClr val="C9171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8368" y="1920240"/>
            <a:ext cx="1691640" cy="175564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9171E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20848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171E"/>
                </a:solidFill>
              </a:rPr>
              <a:t>01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开启实时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281635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用户点击首页“开启实时”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启动 2s 周期采样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98648" y="1920240"/>
            <a:ext cx="1691640" cy="175564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63240" y="20848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171E"/>
                </a:solidFill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63240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定位获取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63240" y="281635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LocationKit 获取 WGS84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经纬度与时间戳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38928" y="1920240"/>
            <a:ext cx="1691640" cy="175564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03520" y="20848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171E"/>
                </a:solidFill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0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样本推送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03520" y="281635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pushGnssObservation()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写入网页侧样本队列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79208" y="1920240"/>
            <a:ext cx="1691640" cy="175564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43800" y="20848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171E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43800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地图刷新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543800" y="281635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当前位置、轨迹与融合点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在地图层实时更新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19488" y="1920240"/>
            <a:ext cx="1691640" cy="175564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784080" y="20848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171E"/>
                </a:solidFill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84080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指标刷新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784080" y="281635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精度、误差、组合导航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自动重新计算与渲染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234440" y="4709160"/>
            <a:ext cx="969264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492861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3B61"/>
                </a:solidFill>
              </a:rPr>
              <a:t>这一改造解决了“每个功能都要手动定位”的痛点，使 GNSS 工具页随着真实位置样本持续刷新，展示效果更接近工程监测系统。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171E"/>
                </a:solidFill>
              </a:rPr>
              <a:t>第03章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871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</a:rPr>
              <a:t>核心功能设计与演示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32688" y="307238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CORE FUNCTIONS AND DEMONSTRATION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006840" y="19202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C9171E">
                    <a:alpha val="92000"/>
                  </a:srgbClr>
                </a:solidFill>
              </a:rPr>
              <a:t>03</a:t>
            </a:r>
            <a:endParaRPr lang="en-US" sz="740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4389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B61"/>
                </a:solidFill>
              </a:rPr>
              <a:t>自强不息，知行合一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35440" y="6263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NEU · 汇报章节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首页与实时模式：从“按钮操作”升级为“持续监测”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首页承担地图入口、实时开关、定位状态与基础地图控制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1069848"/>
            <a:ext cx="2514600" cy="52578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0" descr="/mnt/data/ppt_assets/home_realti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46" y="1115568"/>
            <a:ext cx="2399028" cy="5166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63367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首页实时状态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49040" y="12344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77056" y="134416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实时定位周期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77056" y="16184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0FF"/>
                </a:solidFill>
              </a:rPr>
              <a:t>2 s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035040" y="12344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3056" y="134416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实时样本队列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63056" y="16184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</a:rPr>
              <a:t>≤300 点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321040" y="12344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49056" y="134416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界面状态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449056" y="16184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</a:rPr>
              <a:t>抽屉式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3749040" y="2487168"/>
            <a:ext cx="2971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749040" y="2487168"/>
            <a:ext cx="73152" cy="1481328"/>
          </a:xfrm>
          <a:prstGeom prst="rect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50208" y="2633472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交互设计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950208" y="2962656"/>
            <a:ext cx="266090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底部面板分为首页、导航、GNSS、工具四个 Tab；支持收起、半展开、全展开，避免功能按钮堆叠。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022592" y="2487168"/>
            <a:ext cx="2971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022592" y="2487168"/>
            <a:ext cx="73152" cy="1481328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23760" y="2633472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实时控制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223760" y="2962656"/>
            <a:ext cx="266090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开启实时后持续调用定位接口，自动向地图层推送样本，实时刷新当前位置、轨迹和 GNSS 指标。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749040" y="4315968"/>
            <a:ext cx="6263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749040" y="4315968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50208" y="4462272"/>
            <a:ext cx="5952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使用价值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3950208" y="4791456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普通用户可以直接进行地图搜索、定位、导航；课程演示时可以打开 GNSS 面板展示实时精度与异常分析结果。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地图与空间对象：当前位置、轨迹线与融合结果点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实时采样驱动地图对象刷新，支持基础导航功能与 GNSS 结果可视化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1033272"/>
            <a:ext cx="2880360" cy="5166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0" descr="/mnt/data/ppt_assets/fusion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97" y="1078992"/>
            <a:ext cx="2356567" cy="5074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620877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实时地图与融合点 F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069080" y="11887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69080" y="1188720"/>
            <a:ext cx="73152" cy="1234440"/>
          </a:xfrm>
          <a:prstGeom prst="rect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70248" y="1335024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当前位置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270248" y="1664208"/>
            <a:ext cx="293522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蓝色定位点通过 WGS84→GCJ02 转换后显示，避免火星坐标系偏移。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680960" y="11887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680960" y="118872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82128" y="1335024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轨迹绘制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882128" y="1664208"/>
            <a:ext cx="293522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实时模式下自动追加定位样本，在地图上绘制绿色轨迹折线。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069080" y="28803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069080" y="288036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70248" y="3026664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融合点显示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270248" y="3355848"/>
            <a:ext cx="293522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组合导航模块计算平滑结果，紫色 F 点显示融合位置。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680960" y="28803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680960" y="288036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82128" y="3026664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辅助图层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882128" y="3355848"/>
            <a:ext cx="293522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支持标准图/卫星图切换、电子围栏、拍照定位等地图对象。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069080" y="4846320"/>
            <a:ext cx="6858000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51960" y="5074920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B61"/>
                </a:solidFill>
              </a:rPr>
              <a:t>地图层不仅用于展示位置，更是 GNSS 增强结果的空间可视化载体。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GNSS 坐标转换：WGS84 / GCJ02 / BD09 实时互转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解决手机 GNSS 位置与高德地图坐标系之间的偏差问题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7512" y="1115568"/>
            <a:ext cx="2331720" cy="49834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0" descr="/mnt/data/ppt_assets/coord_lat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195061"/>
            <a:ext cx="2240280" cy="482449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61081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取最新定位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0" y="1115568"/>
            <a:ext cx="2331720" cy="49834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5" name="Image 1" descr="/mnt/data/ppt_assets/coord_resul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195061"/>
            <a:ext cx="2240280" cy="48244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61081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转换结果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28016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280160"/>
            <a:ext cx="73152" cy="1078992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36208" y="1426464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设计目标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36208" y="1755648"/>
            <a:ext cx="48097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将手机定位获取到的 WGS84 坐标转换为高德地图使用的 GCJ02 坐标，也支持 BD09 与 GCJ02/WGS84 的互转。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035040" y="265176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2651760"/>
            <a:ext cx="73152" cy="1078992"/>
          </a:xfrm>
          <a:prstGeom prst="rect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36208" y="2798064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用户体验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236208" y="3127248"/>
            <a:ext cx="48097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用户可点击“取最新定位”自动填入经纬度，减少手动输入；转换结果即时显示。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035040" y="402336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035040" y="4023360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36208" y="4169664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实现要点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236208" y="4498848"/>
            <a:ext cx="48097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网页层实现坐标转换函数，地图展示函数统一使用高德转换后的坐标，确保定位点落图准确。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GNSS 定位精度评估：实时样本驱动指标刷新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用统计指标量化定位稳定性，而不是只展示一个坐标点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" y="1115568"/>
            <a:ext cx="2468880" cy="51206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0" descr="/mnt/data/ppt_assets/precis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00" y="1161288"/>
            <a:ext cx="2335337" cy="5029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1248" y="62453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实时精度评估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49040" y="12344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77056" y="134416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样本数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77056" y="16184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</a:rPr>
              <a:t>20 个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989320" y="12344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17336" y="134416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平均散布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17336" y="16184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0FF"/>
                </a:solidFill>
              </a:rPr>
              <a:t>1.16 m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749040" y="24231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77056" y="253288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RMS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877056" y="28072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</a:rPr>
              <a:t>1.94 m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989320" y="24231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17336" y="253288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CEP95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17336" y="28072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171E"/>
                </a:solidFill>
              </a:rPr>
              <a:t>5.82 m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8366760" y="1234440"/>
            <a:ext cx="25603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366760" y="1234440"/>
            <a:ext cx="73152" cy="2057400"/>
          </a:xfrm>
          <a:prstGeom prst="rect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67928" y="138074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评估逻辑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567928" y="1709928"/>
            <a:ext cx="224942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B7280"/>
                </a:solidFill>
              </a:rPr>
              <a:t>对最近定位样本求均值中心，并计算每个样本到中心的距离，从而得到平均散布、RMS 和 CEP95。</a:t>
            </a:r>
            <a:endParaRPr lang="en-US" sz="1180" dirty="0"/>
          </a:p>
        </p:txBody>
      </p:sp>
      <p:sp>
        <p:nvSpPr>
          <p:cNvPr id="30" name="Shape 27"/>
          <p:cNvSpPr/>
          <p:nvPr/>
        </p:nvSpPr>
        <p:spPr>
          <a:xfrm>
            <a:off x="3749040" y="3931920"/>
            <a:ext cx="7178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749040" y="3931920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50208" y="4078224"/>
            <a:ext cx="686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应用意义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3950208" y="4407408"/>
            <a:ext cx="68671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B7280"/>
                </a:solidFill>
              </a:rPr>
              <a:t>精度评估页可随实时样本自动刷新，直观反映当前位置附近的定位质量变化，适合课堂展示与简单外业观察。</a:t>
            </a:r>
            <a:endParaRPr lang="en-US" sz="12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GNSS 定位质量评估：面向 NMEA 的卫星质量解析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从可见卫星数、信噪比与 DOP 角度评估观测条件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" y="1115568"/>
            <a:ext cx="2468880" cy="51206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0" descr="/mnt/data/ppt_assets/qual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00" y="1161288"/>
            <a:ext cx="2335337" cy="5029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1248" y="62453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质量评估界面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03320" y="1143000"/>
            <a:ext cx="3063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03320" y="1143000"/>
            <a:ext cx="73152" cy="1261872"/>
          </a:xfrm>
          <a:prstGeom prst="rect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04488" y="1289304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输入数据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904488" y="1618488"/>
            <a:ext cx="275234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支持粘贴 GSA / GSV NMEA 语句，解析卫星数量、C/N0、PDOP、HDOP、VDOP 等指标。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086600" y="1143000"/>
            <a:ext cx="3063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086600" y="1143000"/>
            <a:ext cx="73152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87768" y="1289304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质量判读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287768" y="1618488"/>
            <a:ext cx="275234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卫星数少、平均 C/N0 低或 DOP 偏大时，定位质量下降，可能引发位置抖动或误差放大。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703320" y="2788920"/>
            <a:ext cx="3063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703320" y="2788920"/>
            <a:ext cx="73152" cy="1261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04488" y="2935224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当前效果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904488" y="3264408"/>
            <a:ext cx="275234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界面以卡片方式展示卫星数、平均 C/N0、PDOP、HDOP，并在下方输出最大 C/N0 和 VDOP。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086600" y="2788920"/>
            <a:ext cx="3063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86600" y="2788920"/>
            <a:ext cx="7315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87768" y="2935224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扩展方向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287768" y="3264408"/>
            <a:ext cx="275234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后续可接入系统 GNSS 原始观测数据或外部 NMEA 流，实现更接近工程级的质量监测。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794760" y="493776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23B61"/>
                </a:solidFill>
              </a:rPr>
              <a:t>说明：该模块体现“GNSS 定位质量评估（可见卫星数、信噪比、DOP 等）”任务要求。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GNSS 导航误差源分析：多路径、几何与噪声综合判断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通过实时样本的运动统计与散布统计，对误差来源进行可解释化展示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1115568"/>
            <a:ext cx="2487168" cy="51663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0" descr="/mnt/data/ppt_assets/error_analys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41" y="1161288"/>
            <a:ext cx="2356567" cy="5074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629107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误差源分析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0" y="1234440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85616" y="134416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散布 RMS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785616" y="1618488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0FF"/>
                </a:solidFill>
              </a:rPr>
              <a:t>1.86 m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080760" y="1234440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08776" y="134416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平均速度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208776" y="1618488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</a:rPr>
              <a:t>0.55 m/s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657600" y="2313432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85616" y="242316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航向变化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785616" y="2697480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</a:rPr>
              <a:t>18.8°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080760" y="2313432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08776" y="242316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样本数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08776" y="2697480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</a:rPr>
              <a:t>20 个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8732520" y="123444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732520" y="1234440"/>
            <a:ext cx="73152" cy="187452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933688" y="1380744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核心判断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933688" y="1709928"/>
            <a:ext cx="202082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通过散布、速度、航向变化等指标综合判断是否存在多路径、遮挡、几何分布不佳或接收机噪声问题。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3657600" y="3749040"/>
            <a:ext cx="7406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657600" y="3749040"/>
            <a:ext cx="73152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58768" y="3895344"/>
            <a:ext cx="7095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课程价值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3858768" y="4224528"/>
            <a:ext cx="70957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B7280"/>
                </a:solidFill>
              </a:rPr>
              <a:t>该页把原本抽象的误差源转化为可展示的指标卡片和文字解释，适合在答辩中说明 GNSS 误差分析思路。</a:t>
            </a:r>
            <a:endParaRPr lang="en-US" sz="12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GNSS + 惯性组合导航：实时平滑与融合点显示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以短时间窗平滑模拟组合导航对定位抖动的抑制效果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" y="1115568"/>
            <a:ext cx="2240280" cy="49834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0" descr="/mnt/data/ppt_assets/fusion_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93520"/>
            <a:ext cx="2148840" cy="4627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8368" y="61081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组合导航开启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953512" y="1115568"/>
            <a:ext cx="2240280" cy="49834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5" name="Image 1" descr="/mnt/data/ppt_assets/fusion_of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1293520"/>
            <a:ext cx="2148840" cy="46275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99232" y="61081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组合导航关闭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77840" y="12344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77840" y="1234440"/>
            <a:ext cx="73152" cy="1325880"/>
          </a:xfrm>
          <a:prstGeom prst="rect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79008" y="138074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实时输入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779008" y="1709928"/>
            <a:ext cx="215798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B7280"/>
                </a:solidFill>
              </a:rPr>
              <a:t>持续定位样本进入滑动窗口，窗口大小随样本数动态变化。</a:t>
            </a:r>
            <a:endParaRPr lang="en-US" sz="1140" dirty="0"/>
          </a:p>
        </p:txBody>
      </p:sp>
      <p:sp>
        <p:nvSpPr>
          <p:cNvPr id="21" name="Shape 17"/>
          <p:cNvSpPr/>
          <p:nvPr/>
        </p:nvSpPr>
        <p:spPr>
          <a:xfrm>
            <a:off x="8321040" y="12344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21040" y="123444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22208" y="138074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融合计算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8522208" y="1709928"/>
            <a:ext cx="215798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B7280"/>
                </a:solidFill>
              </a:rPr>
              <a:t>以时间窗均值近似实现平滑结果，输出融合点、速度、航向角与平滑 RMS。</a:t>
            </a:r>
            <a:endParaRPr lang="en-US" sz="1140" dirty="0"/>
          </a:p>
        </p:txBody>
      </p:sp>
      <p:sp>
        <p:nvSpPr>
          <p:cNvPr id="25" name="Shape 21"/>
          <p:cNvSpPr/>
          <p:nvPr/>
        </p:nvSpPr>
        <p:spPr>
          <a:xfrm>
            <a:off x="5577840" y="29260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577840" y="292608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779008" y="307238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地图显示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779008" y="3401568"/>
            <a:ext cx="215798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B7280"/>
                </a:solidFill>
              </a:rPr>
              <a:t>点击“显示融合点”后，在地图中以紫色 F 点展示融合结果。</a:t>
            </a:r>
            <a:endParaRPr lang="en-US" sz="1140" dirty="0"/>
          </a:p>
        </p:txBody>
      </p:sp>
      <p:sp>
        <p:nvSpPr>
          <p:cNvPr id="29" name="Shape 25"/>
          <p:cNvSpPr/>
          <p:nvPr/>
        </p:nvSpPr>
        <p:spPr>
          <a:xfrm>
            <a:off x="8321040" y="29260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321040" y="2926080"/>
            <a:ext cx="73152" cy="132588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522208" y="307238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展示效果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8522208" y="3401568"/>
            <a:ext cx="215798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B7280"/>
                </a:solidFill>
              </a:rPr>
              <a:t>适合说明 GNSS 与惯性/时序信息组合后对轨迹稳定性的改善思路。</a:t>
            </a:r>
            <a:endParaRPr lang="en-US" sz="1140" dirty="0"/>
          </a:p>
        </p:txBody>
      </p:sp>
      <p:sp>
        <p:nvSpPr>
          <p:cNvPr id="33" name="Text 29"/>
          <p:cNvSpPr/>
          <p:nvPr/>
        </p:nvSpPr>
        <p:spPr>
          <a:xfrm>
            <a:off x="5577840" y="4892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注：当前为课程设计实验版，后续可引入 IMU 加速度计/陀螺仪进行真正的多源融合。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GNSS 欺骗与异常检测：风险等级与触发因素可视化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面向位置突跳、速度异常、航向突变和散布过大的实时风险评估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0664" y="1115568"/>
            <a:ext cx="2514600" cy="51663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0" descr="/mnt/data/ppt_assets/spoo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81" y="1161288"/>
            <a:ext cx="2356567" cy="5074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629107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欺骗与异常检测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94760" y="11887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22776" y="12984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风险等级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922776" y="15727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171E"/>
                </a:solidFill>
              </a:rPr>
              <a:t>高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035040" y="11887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3056" y="12984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风险分数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63056" y="15727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171E"/>
                </a:solidFill>
              </a:rPr>
              <a:t>63 分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794760" y="2340864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22776" y="24505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最大突跳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922776" y="272491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0FF"/>
                </a:solidFill>
              </a:rPr>
              <a:t>70.93 m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035040" y="2340864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63056" y="24505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最高速度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63056" y="272491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</a:rPr>
              <a:t>52.42 m/s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8275320" y="118872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275320" y="1188720"/>
            <a:ext cx="73152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76488" y="133502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判定机制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476488" y="1664208"/>
            <a:ext cx="2249424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B7280"/>
                </a:solidFill>
              </a:rPr>
              <a:t>设置位置突跳、速度峰值、航向突变与 RMS 阈值，形成风险分数并输出低/中/高风险等级。</a:t>
            </a:r>
            <a:endParaRPr lang="en-US" sz="1130" dirty="0"/>
          </a:p>
        </p:txBody>
      </p:sp>
      <p:sp>
        <p:nvSpPr>
          <p:cNvPr id="30" name="Shape 27"/>
          <p:cNvSpPr/>
          <p:nvPr/>
        </p:nvSpPr>
        <p:spPr>
          <a:xfrm>
            <a:off x="3794760" y="3931920"/>
            <a:ext cx="7040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794760" y="393192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95928" y="4078224"/>
            <a:ext cx="6729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交互价值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3995928" y="4407408"/>
            <a:ext cx="67299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B7280"/>
                </a:solidFill>
              </a:rPr>
              <a:t>相比只显示“未发现异常”，该模块进一步给出量化指标和触发因素，方便定位异常原因并增强汇报说服力。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CORS / PPP 模拟改正：用实时样本展示定位精度提升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通过控制量偏移与时间窗平滑模拟两类高精度定位改正思想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" y="1115568"/>
            <a:ext cx="2304288" cy="50292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0" descr="/mnt/data/ppt_assets/cors_ppp_co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247459"/>
            <a:ext cx="2212848" cy="476541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4944" y="61539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CORS 模拟改正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044952" y="1115568"/>
            <a:ext cx="2304288" cy="50292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5" name="Image 1" descr="/mnt/data/ppt_assets/cors_ppp_pp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247459"/>
            <a:ext cx="2212848" cy="47654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90672" y="61539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PPP 平滑模式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852160" y="1170432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80176" y="128016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改正前 RMS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980176" y="1554480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171E"/>
                </a:solidFill>
              </a:rPr>
              <a:t>5.60 m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8183880" y="1170432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11896" y="128016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改正后 RMS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311896" y="1554480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</a:rPr>
              <a:t>3.91 m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52160" y="2304288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80176" y="2414016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RMS 改善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980176" y="2688336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0FF"/>
                </a:solidFill>
              </a:rPr>
              <a:t>30.3 %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8183880" y="2304288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11896" y="2414016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改正后 CEP95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8311896" y="2688336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</a:rPr>
              <a:t>11.31 m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5852160" y="3794760"/>
            <a:ext cx="4389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852160" y="3794760"/>
            <a:ext cx="73152" cy="109728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053328" y="3941064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实现说明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6053328" y="4270248"/>
            <a:ext cx="40782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B7280"/>
                </a:solidFill>
              </a:rPr>
              <a:t>CORS 采用控制量偏移模拟差分改正；PPP 采用时间窗平滑模拟精密单点改进。当前为课程设计实验版，后续可接入 NTRIP/RTCM 或 PPP 后端服务。</a:t>
            </a:r>
            <a:endParaRPr lang="en-US" sz="11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GNSS 总览：七项增强功能在实时样本上的统一联动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同一定位样本队列驱动多个 GNSS 工具页，形成数据闭环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2376" y="1115568"/>
            <a:ext cx="2395728" cy="50292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0" descr="/mnt/data/ppt_assets/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02" y="1161288"/>
            <a:ext cx="2292876" cy="4937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8096" y="615391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GNSS 总览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49040" y="118872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95344" y="1298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坐标转换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13167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坐标系互转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75120" y="118872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21424" y="1298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精度评估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55280" y="13167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RMS / CEP95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749040" y="2084832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95344" y="2194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质量评估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0" y="22128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卫星数 / DOP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675120" y="2084832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21424" y="2194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误差分析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55280" y="22128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多路径 / 几何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749040" y="2980944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95344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组合导航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029200" y="31089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融合点 / 速度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675120" y="2980944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21424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欺骗检测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955280" y="31089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风险分数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749040" y="3877056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95344" y="3986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CORS/PPP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029200" y="4005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改正模拟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749040" y="4983480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CEEEF"/>
          </a:solidFill>
          <a:ln w="12700">
            <a:solidFill>
              <a:srgbClr val="F9D7D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13632" y="5175504"/>
            <a:ext cx="5138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171E"/>
                </a:solidFill>
              </a:rPr>
              <a:t>核心共享数据：gnssObservations 实时样本队列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326880" y="5285232"/>
            <a:ext cx="1097280" cy="0"/>
          </a:xfrm>
          <a:prstGeom prst="line">
            <a:avLst/>
          </a:prstGeom>
          <a:noFill/>
          <a:ln w="25400">
            <a:solidFill>
              <a:srgbClr val="C9171E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9921240" y="338328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9921240" y="3383280"/>
            <a:ext cx="73152" cy="105156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122408" y="3529584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自动刷新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122408" y="3858768"/>
            <a:ext cx="11064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</a:rPr>
              <a:t>当前打开的工具页随实时模式自动更新</a:t>
            </a:r>
            <a:endParaRPr lang="en-US" sz="9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171E"/>
                </a:solidFill>
              </a:rPr>
              <a:t>第04章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871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</a:rPr>
              <a:t>测试结果与问题优化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32688" y="307238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TEST RESULTS AND OPTIMIZATION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006840" y="19202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C9171E">
                    <a:alpha val="92000"/>
                  </a:srgbClr>
                </a:solidFill>
              </a:rPr>
              <a:t>04</a:t>
            </a:r>
            <a:endParaRPr lang="en-US" sz="740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4389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B61"/>
                </a:solidFill>
              </a:rPr>
              <a:t>自强不息，知行合一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35440" y="6263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NEU · 汇报章节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真机测试：从编译部署到功能链路验证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围绕权限、地图加载、定位、导航、GNSS 面板与实时刷新进行完整验证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1234440"/>
            <a:ext cx="411480" cy="411480"/>
          </a:xfrm>
          <a:prstGeom prst="ellipse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307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1252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构建与签名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1554480"/>
            <a:ext cx="4187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修复证书过期、签名文件配置与 HAP 部署问题。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411480" cy="411480"/>
          </a:xfrm>
          <a:prstGeom prst="ellipse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307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01968" y="1252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权限申请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01968" y="1554480"/>
            <a:ext cx="4187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解决定位、相机、互联网权限声明及 usedScene 配置。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77240" y="2496312"/>
            <a:ext cx="411480" cy="411480"/>
          </a:xfrm>
          <a:prstGeom prst="ellipse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569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44168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地图加载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2816352"/>
            <a:ext cx="4187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接入高德 Web API，修复 Key/securityJsCode 与脚本加载失败。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035040" y="2496312"/>
            <a:ext cx="411480" cy="411480"/>
          </a:xfrm>
          <a:prstGeom prst="ellipse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2569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01968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定位精度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01968" y="2816352"/>
            <a:ext cx="4187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处理 WGS84 与 GCJ02 坐标系转换，减少地图偏移。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77240" y="3758184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8313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44168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交互优化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44168" y="4078224"/>
            <a:ext cx="4187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删除遮挡浮层，收起底部面板，保证网页控件可点击。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035040" y="3758184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8313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01968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实时模式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01968" y="4078224"/>
            <a:ext cx="4187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开启周期定位，验证 GNSS 面板自动刷新与轨迹增长。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914400" y="5532120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5696712"/>
            <a:ext cx="9692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B61"/>
                </a:solidFill>
              </a:rPr>
              <a:t>测试结论：APP 能够在真机上完成地图、定位、导航、实时 GNSS 增强与多功能界面展示，满足课程任务要求。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典型问题与解决方案：从报错修复到体验优化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开发过程中围绕 HarmonyOS 配置、WebView 调用与交互遮挡持续迭代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3232" y="1188720"/>
            <a:ext cx="10771632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3258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71E"/>
                </a:solidFill>
              </a:rPr>
              <a:t>权限配置报错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14600" y="13258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reason / usedScene 类型不匹配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120640" y="129844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改用对象形式配置 abilities 与 when，并在 string.json 中补齐权限原因。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13232" y="1938528"/>
            <a:ext cx="107716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0756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71E"/>
                </a:solidFill>
              </a:rPr>
              <a:t>HAP 安装失败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14600" y="20756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证书过期 / no signature file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5120640" y="204825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重新配置 DevEco 自动签名，清理旧证书缓存后重新部署。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13232" y="2688336"/>
            <a:ext cx="10771632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2825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71E"/>
                </a:solidFill>
              </a:rPr>
              <a:t>地图加载失败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514600" y="28254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高德脚本或资源路径异常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120640" y="2798064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统一 rawfile 文件名为 amap.html，补充 INTERNET 权限与正确 Key。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13232" y="3438144"/>
            <a:ext cx="107716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5753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71E"/>
                </a:solidFill>
              </a:rPr>
              <a:t>定位点偏移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514600" y="35753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WGS84 与 GCJ02 坐标差异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120640" y="354787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在 Web 地图层统一进行坐标转换再落图。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13232" y="4187952"/>
            <a:ext cx="10771632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3251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71E"/>
                </a:solidFill>
              </a:rPr>
              <a:t>按钮点击无效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514600" y="43251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原生浮层遮挡 Web 控件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5120640" y="4297680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移除右侧圆形悬浮按钮，GNSS 面板打开时自动收起底部面板。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713232" y="4937760"/>
            <a:ext cx="107716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50749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171E"/>
                </a:solidFill>
              </a:rPr>
              <a:t>手动定位繁琐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514600" y="5074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功能页依赖单次定位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120640" y="504748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增加实时模式，周期采样并自动刷新 GNSS 页面。</a:t>
            </a:r>
            <a:endParaRPr lang="en-US" sz="10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171E"/>
                </a:solidFill>
              </a:rPr>
              <a:t>第05章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871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</a:rPr>
              <a:t>项目特色与总结展望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32688" y="307238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FEATURES, SUMMARY AND OUTLOOK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006840" y="19202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C9171E">
                    <a:alpha val="92000"/>
                  </a:srgbClr>
                </a:solidFill>
              </a:rPr>
              <a:t>05</a:t>
            </a:r>
            <a:endParaRPr lang="en-US" sz="740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4389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3B61"/>
                </a:solidFill>
              </a:rPr>
              <a:t>自强不息，知行合一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35440" y="6263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NEU · 汇报章节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项目特色：从导航应用原型扩展到 GNSS 实验平台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兼顾软件工程实现与导航定位课程知识点展示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1325880"/>
            <a:ext cx="4526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325880"/>
            <a:ext cx="73152" cy="132588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1472184"/>
            <a:ext cx="4215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实时动态 GNSS 监测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9848" y="1801368"/>
            <a:ext cx="421538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通过周期采样和自动刷新，避免重复手动定位，形成连续位置数据流。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325880"/>
            <a:ext cx="4526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325880"/>
            <a:ext cx="73152" cy="1325880"/>
          </a:xfrm>
          <a:prstGeom prst="rect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472184"/>
            <a:ext cx="4215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七项增强功能覆盖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4768" y="1801368"/>
            <a:ext cx="421538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覆盖坐标转换、精度评估、质量评估、误差分析、组合导航、欺骗检测、CORS/PPP。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3108960"/>
            <a:ext cx="4526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10896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255264"/>
            <a:ext cx="4215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原生层与 Web 层解耦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9848" y="3584448"/>
            <a:ext cx="421538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ArkTS 管控权限与交互，Web 层承担地图、坐标和 GNSS 结果面板。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3108960"/>
            <a:ext cx="4526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310896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3255264"/>
            <a:ext cx="4215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可汇报可演示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44768" y="3584448"/>
            <a:ext cx="421538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真机截图、指标卡片、轨迹与融合点可直观支撑结课展示。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74520" y="50749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524865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核心创新：将 GNSS 课程知识点转化为可交互、可实时刷新、可在地图上展示的软件功能。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D7A04B">
              <a:alpha val="80000"/>
            </a:srgbClr>
          </a:solidFill>
          <a:ln w="12700">
            <a:solidFill>
              <a:srgbClr val="D7A0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766560"/>
            <a:ext cx="11990527" cy="91440"/>
          </a:xfrm>
          <a:prstGeom prst="rect">
            <a:avLst/>
          </a:prstGeom>
          <a:solidFill>
            <a:srgbClr val="123B61"/>
          </a:solidFill>
          <a:ln w="12700">
            <a:solidFill>
              <a:srgbClr val="123B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653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自强不息，知行合一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0" y="65653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HarmonyOS · GNSS Navigation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02568" y="6510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59" y="384048"/>
            <a:ext cx="983118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总结与展望：具备完整功能链路，后续可向工程级 GNSS 扩展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896112"/>
            <a:ext cx="960120" cy="54864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822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当前实现满足课程设计要求，后续可进一步提升定位精度与数据接入能力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1188720"/>
            <a:ext cx="4800600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188720"/>
            <a:ext cx="73152" cy="3639312"/>
          </a:xfrm>
          <a:prstGeom prst="rect">
            <a:avLst/>
          </a:prstGeom>
          <a:solidFill>
            <a:srgbClr val="1E80FF"/>
          </a:solidFill>
          <a:ln w="12700">
            <a:solidFill>
              <a:srgbClr val="1E8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1335024"/>
            <a:ext cx="4489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已完成内容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9848" y="1664208"/>
            <a:ext cx="4489704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</a:rPr>
              <a:t>• 登录界面与高德风格底部抽屉交互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</a:rPr>
              <a:t>• 高德地图加载、搜索、导航与卫星图切换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</a:rPr>
              <a:t>• 定位、拍照定位、围栏、轨迹与融合点显示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</a:rPr>
              <a:t>• 实时动态模式与定位样本队列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</a:rPr>
              <a:t>• GNSS 七项增强功能与真机演示截图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</a:rPr>
              <a:t>• 开发文档、软件说明书和本次汇报材料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72200" y="1188720"/>
            <a:ext cx="4800600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88720"/>
            <a:ext cx="73152" cy="3639312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335024"/>
            <a:ext cx="4489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后续优化方向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73368" y="1664208"/>
            <a:ext cx="4489704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</a:rPr>
              <a:t>• 接入系统 GNSS 原始观测或 NMEA 实时流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</a:rPr>
              <a:t>• 接入 NTRIP/RTCM，实现真实 CORS 差分改正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</a:rPr>
              <a:t>• 引入 IMU 数据，完成真实 GNSS/INS 融合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</a:rPr>
              <a:t>• 增加轨迹数据导出、历史记录和异常日志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</a:rPr>
              <a:t>• 使用原生地图组件进一步优化性能与交互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</a:rPr>
              <a:t>• 完善隐私保护与数据安全策略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463040" y="5559552"/>
            <a:ext cx="932688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5715000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B61"/>
                </a:solidFill>
              </a:rPr>
              <a:t>总体来看，本项目完成了从“普通地图导航 APP”到“实时动态 GNSS 增强 APP”的功能升级。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17627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27"/>
                </a:solidFill>
              </a:rPr>
              <a:t>欢迎提问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77824" y="28712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Welcoming for communication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6112" y="3401568"/>
            <a:ext cx="4023360" cy="73152"/>
          </a:xfrm>
          <a:prstGeom prst="rect">
            <a:avLst/>
          </a:prstGeom>
          <a:solidFill>
            <a:srgbClr val="C9171E"/>
          </a:solidFill>
          <a:ln w="12700">
            <a:solidFill>
              <a:srgbClr val="C917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3749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B61"/>
                </a:solidFill>
              </a:rPr>
              <a:t>基于 HarmonyOS 的实时动态 GNSS 增强导航 APP 设计与实现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795528"/>
            <a:ext cx="2212848" cy="470916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ppt_assets/fusion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865858"/>
            <a:ext cx="2121408" cy="4568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52360" y="551383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地图融合点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665208" y="978408"/>
            <a:ext cx="2029968" cy="43891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7620">
            <a:solidFill>
              <a:srgbClr val="DD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1" descr="/mnt/data/ppt_assets/overvi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28" y="1085636"/>
            <a:ext cx="1938528" cy="41746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10928" y="537667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GNSS 总览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96112" y="62362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3B61"/>
                </a:solidFill>
              </a:rPr>
              <a:t>自强不息，知行合一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1617</Words>
  <Application>Microsoft Office PowerPoint</Application>
  <PresentationFormat>宽屏</PresentationFormat>
  <Paragraphs>442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Microsoft YaHei</vt:lpstr>
      <vt:lpstr>Aptos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基于HarmonyOS的实时动态GNSS增强导航APP设计与实现</dc:title>
  <dc:subject>基于HarmonyOS的实时动态GNSS增强导航APP汇报PPT</dc:subject>
  <dc:creator>OpenAI</dc:creator>
  <cp:lastModifiedBy>子博 闻</cp:lastModifiedBy>
  <cp:revision>4</cp:revision>
  <dcterms:created xsi:type="dcterms:W3CDTF">2026-05-14T06:51:41Z</dcterms:created>
  <dcterms:modified xsi:type="dcterms:W3CDTF">2026-05-14T07:46:42Z</dcterms:modified>
</cp:coreProperties>
</file>